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51" autoAdjust="0"/>
  </p:normalViewPr>
  <p:slideViewPr>
    <p:cSldViewPr snapToGrid="0">
      <p:cViewPr varScale="1">
        <p:scale>
          <a:sx n="49" d="100"/>
          <a:sy n="49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Las RDBMS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muchas</a:t>
            </a:r>
            <a:r>
              <a:rPr dirty="0"/>
              <a:t> </a:t>
            </a:r>
            <a:r>
              <a:rPr dirty="0" err="1"/>
              <a:t>ventajas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 err="1"/>
              <a:t>Estandarización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 err="1"/>
              <a:t>Buen</a:t>
            </a:r>
            <a:r>
              <a:rPr dirty="0"/>
              <a:t>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concurrencia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 err="1"/>
              <a:t>Simplicidad</a:t>
            </a:r>
            <a:r>
              <a:rPr dirty="0"/>
              <a:t> del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Relacional</a:t>
            </a:r>
            <a:endParaRPr dirty="0"/>
          </a:p>
          <a:p>
            <a:pPr marL="279400" indent="-279400">
              <a:buSzPct val="123000"/>
              <a:buChar char="-"/>
            </a:pPr>
            <a:r>
              <a:rPr dirty="0"/>
              <a:t>SQL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unificador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7" name="Shape 1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100"/>
            </a:pPr>
            <a:r>
              <a:t>Una desventaja importante es la diferencia de impedancia: el modelo suele ser diferentes de las estructuras comúnmente utilizadas en memoria (ej. OO).</a:t>
            </a:r>
          </a:p>
          <a:p>
            <a:pPr>
              <a:defRPr sz="2100"/>
            </a:pPr>
            <a:r>
              <a:t>Pero hay otras dos que vale la pena mencionar:</a:t>
            </a:r>
          </a:p>
          <a:p>
            <a:pPr marL="266700" indent="-266700">
              <a:buSzPct val="123000"/>
              <a:buChar char="-"/>
              <a:defRPr sz="2100"/>
            </a:pPr>
            <a:r>
              <a:t>Integración</a:t>
            </a:r>
          </a:p>
          <a:p>
            <a:pPr marL="266700" indent="-266700">
              <a:buSzPct val="123000"/>
              <a:buChar char="-"/>
              <a:defRPr sz="2100"/>
            </a:pPr>
            <a:r>
              <a:t>Escalabilidad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4" name="Shape 2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rPr dirty="0" err="1"/>
              <a:t>Integración</a:t>
            </a:r>
            <a:endParaRPr dirty="0"/>
          </a:p>
          <a:p>
            <a:pPr marL="228600" indent="-228600">
              <a:buSzPct val="123000"/>
              <a:buChar char="-"/>
              <a:defRPr sz="1800"/>
            </a:pP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muchas</a:t>
            </a:r>
            <a:r>
              <a:rPr dirty="0"/>
              <a:t> </a:t>
            </a:r>
            <a:r>
              <a:rPr dirty="0" err="1"/>
              <a:t>aplicaciones</a:t>
            </a:r>
            <a:r>
              <a:rPr dirty="0"/>
              <a:t> </a:t>
            </a:r>
            <a:r>
              <a:rPr dirty="0" err="1"/>
              <a:t>trabajaban</a:t>
            </a:r>
            <a:r>
              <a:rPr dirty="0"/>
              <a:t> con un solo </a:t>
            </a:r>
            <a:r>
              <a:rPr dirty="0" err="1"/>
              <a:t>conjunto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  <a:p>
            <a:pPr marL="228600" indent="-228600">
              <a:buSzPct val="123000"/>
              <a:buChar char="-"/>
              <a:defRPr sz="1800"/>
            </a:pPr>
            <a:r>
              <a:rPr dirty="0"/>
              <a:t>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trabajar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sola BD, </a:t>
            </a:r>
            <a:r>
              <a:rPr dirty="0" err="1"/>
              <a:t>pero</a:t>
            </a:r>
            <a:r>
              <a:rPr dirty="0"/>
              <a:t> hay que </a:t>
            </a:r>
            <a:r>
              <a:rPr dirty="0" err="1"/>
              <a:t>coordinar</a:t>
            </a:r>
            <a:r>
              <a:rPr dirty="0"/>
              <a:t> las </a:t>
            </a:r>
            <a:r>
              <a:rPr dirty="0" err="1"/>
              <a:t>aplicaciones</a:t>
            </a:r>
            <a:endParaRPr dirty="0"/>
          </a:p>
          <a:p>
            <a:pPr marL="228600" indent="-228600">
              <a:buSzPct val="123000"/>
              <a:buChar char="-"/>
              <a:defRPr sz="1800"/>
            </a:pP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ser</a:t>
            </a:r>
            <a:r>
              <a:rPr dirty="0"/>
              <a:t> </a:t>
            </a:r>
            <a:r>
              <a:rPr dirty="0" err="1"/>
              <a:t>complicado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</a:p>
          <a:p>
            <a:pPr marL="838200" lvl="1" indent="-228600">
              <a:buSzPct val="123000"/>
              <a:buChar char="-"/>
              <a:defRPr sz="1800"/>
            </a:pPr>
            <a:r>
              <a:rPr dirty="0"/>
              <a:t>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separar</a:t>
            </a:r>
            <a:r>
              <a:rPr dirty="0"/>
              <a:t> las </a:t>
            </a:r>
            <a:r>
              <a:rPr dirty="0" err="1"/>
              <a:t>aplicaciones</a:t>
            </a:r>
            <a:r>
              <a:rPr dirty="0"/>
              <a:t> y …</a:t>
            </a:r>
          </a:p>
          <a:p>
            <a:pPr marL="838200" lvl="1" indent="-228600">
              <a:buSzPct val="123000"/>
              <a:buChar char="-"/>
              <a:defRPr sz="1800"/>
            </a:pPr>
            <a:r>
              <a:rPr dirty="0"/>
              <a:t>…</a:t>
            </a:r>
            <a:r>
              <a:rPr dirty="0" err="1"/>
              <a:t>comunicarlas</a:t>
            </a:r>
            <a:r>
              <a:rPr dirty="0"/>
              <a:t> con Web Services o APIs REST</a:t>
            </a:r>
          </a:p>
          <a:p>
            <a:pPr marL="838200" lvl="1" indent="-228600">
              <a:buSzPct val="123000"/>
              <a:buChar char="-"/>
              <a:defRPr sz="1800"/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propia</a:t>
            </a:r>
            <a:r>
              <a:rPr dirty="0"/>
              <a:t> BD.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800"/>
            </a:pPr>
            <a:r>
              <a:t>Mundo actual: cambio en la escala de datos generados (redes sociales, logging, etc)</a:t>
            </a:r>
          </a:p>
          <a:p>
            <a:pPr>
              <a:defRPr sz="1800"/>
            </a:pPr>
            <a:r>
              <a:t>Dramático aumento en la información que se almacena</a:t>
            </a:r>
          </a:p>
          <a:p>
            <a:pPr>
              <a:defRPr sz="1800"/>
            </a:pPr>
            <a:r>
              <a:t>Se pueden crear servers monolíticos tan enormes? No &gt;&gt; se pueden utilizar </a:t>
            </a:r>
            <a:r>
              <a:rPr b="1"/>
              <a:t>clusters </a:t>
            </a:r>
            <a:r>
              <a:t>para escalar horizontalmente</a:t>
            </a:r>
          </a:p>
          <a:p>
            <a:pPr>
              <a:defRPr sz="1800"/>
            </a:pPr>
            <a:r>
              <a:t>Problema: las RDBMS no están pensadas para trabajar en clusters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Google y Amazon </a:t>
            </a:r>
            <a:r>
              <a:rPr dirty="0" err="1"/>
              <a:t>lanzan</a:t>
            </a:r>
            <a:r>
              <a:rPr dirty="0"/>
              <a:t> </a:t>
            </a:r>
            <a:r>
              <a:rPr dirty="0" err="1"/>
              <a:t>BigTable</a:t>
            </a:r>
            <a:r>
              <a:rPr dirty="0"/>
              <a:t> y Dynamo</a:t>
            </a:r>
          </a:p>
          <a:p>
            <a:r>
              <a:rPr dirty="0"/>
              <a:t>2009: </a:t>
            </a:r>
            <a:r>
              <a:rPr dirty="0" err="1"/>
              <a:t>aparece</a:t>
            </a:r>
            <a:r>
              <a:rPr dirty="0"/>
              <a:t> el </a:t>
            </a:r>
            <a:r>
              <a:rPr dirty="0" err="1"/>
              <a:t>término</a:t>
            </a:r>
            <a:r>
              <a:rPr dirty="0"/>
              <a:t> NoSQL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meetup de </a:t>
            </a:r>
            <a:r>
              <a:rPr dirty="0" err="1" smtClean="0"/>
              <a:t>Hado</a:t>
            </a:r>
            <a:r>
              <a:rPr lang="es-ES" dirty="0" err="1" smtClean="0"/>
              <a:t>op</a:t>
            </a:r>
            <a:r>
              <a:rPr lang="es-ES" baseline="0" dirty="0" smtClean="0"/>
              <a:t> donde discutían </a:t>
            </a:r>
            <a:r>
              <a:rPr lang="es-ES" baseline="0" dirty="0" err="1" smtClean="0"/>
              <a:t>bd</a:t>
            </a:r>
            <a:r>
              <a:rPr lang="es-ES" baseline="0" dirty="0" smtClean="0"/>
              <a:t> distribuidas de código abierto.</a:t>
            </a:r>
            <a:endParaRPr dirty="0"/>
          </a:p>
          <a:p>
            <a:r>
              <a:rPr dirty="0"/>
              <a:t>BBDD sin SQL / sin </a:t>
            </a:r>
            <a:r>
              <a:rPr dirty="0" err="1"/>
              <a:t>esquema</a:t>
            </a:r>
            <a:r>
              <a:rPr dirty="0"/>
              <a:t> / </a:t>
            </a:r>
            <a:r>
              <a:rPr dirty="0" err="1"/>
              <a:t>preparadas</a:t>
            </a:r>
            <a:r>
              <a:rPr dirty="0"/>
              <a:t> para </a:t>
            </a:r>
            <a:r>
              <a:rPr dirty="0" err="1"/>
              <a:t>grandes</a:t>
            </a:r>
            <a:r>
              <a:rPr dirty="0"/>
              <a:t> </a:t>
            </a:r>
            <a:r>
              <a:rPr dirty="0" err="1"/>
              <a:t>volúmenes</a:t>
            </a:r>
            <a:r>
              <a:rPr dirty="0"/>
              <a:t> / clustering / la web / open source</a:t>
            </a:r>
          </a:p>
          <a:p>
            <a:r>
              <a:rPr dirty="0" err="1"/>
              <a:t>Persistencia</a:t>
            </a:r>
            <a:r>
              <a:rPr dirty="0"/>
              <a:t> </a:t>
            </a:r>
            <a:r>
              <a:rPr dirty="0" err="1"/>
              <a:t>políglota</a:t>
            </a:r>
            <a:r>
              <a:rPr dirty="0"/>
              <a:t> -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mudar</a:t>
            </a:r>
            <a:r>
              <a:rPr dirty="0"/>
              <a:t> a BBDD de </a:t>
            </a:r>
            <a:r>
              <a:rPr dirty="0" err="1"/>
              <a:t>aplicación</a:t>
            </a:r>
            <a:r>
              <a:rPr dirty="0"/>
              <a:t> </a:t>
            </a:r>
            <a:endParaRPr lang="es-ES" dirty="0" smtClean="0"/>
          </a:p>
          <a:p>
            <a:r>
              <a:rPr lang="es-ES" dirty="0" smtClean="0"/>
              <a:t>Familia de Columnas</a:t>
            </a:r>
            <a:r>
              <a:rPr lang="es-ES" baseline="0" dirty="0" smtClean="0"/>
              <a:t> (</a:t>
            </a:r>
            <a:r>
              <a:rPr lang="es-ES" baseline="0" dirty="0" err="1" smtClean="0"/>
              <a:t>Cassandra</a:t>
            </a:r>
            <a:r>
              <a:rPr lang="es-ES" baseline="0" dirty="0" smtClean="0"/>
              <a:t>): </a:t>
            </a:r>
            <a:r>
              <a:rPr lang="es-ES" baseline="0" dirty="0" err="1" smtClean="0"/>
              <a:t>ej</a:t>
            </a:r>
            <a:r>
              <a:rPr lang="es-ES" baseline="0" dirty="0" smtClean="0"/>
              <a:t> manejo de datos genéticos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hape 23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relacional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 smtClean="0"/>
              <a:t>normalizado</a:t>
            </a:r>
            <a:endParaRPr lang="es-AR" dirty="0" smtClean="0"/>
          </a:p>
          <a:p>
            <a:pPr marL="0" marR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200" b="1" i="0" u="none" strike="noStrike" baseline="0" smtClean="0">
                <a:latin typeface="+mn-lt"/>
                <a:ea typeface="+mn-ea"/>
                <a:cs typeface="+mn-cs"/>
                <a:sym typeface="Helvetica Neue"/>
              </a:rPr>
              <a:t>aggregate </a:t>
            </a:r>
            <a:r>
              <a:rPr lang="en-US" sz="2200" b="0" i="0" u="none" strike="noStrike" baseline="0" smtClean="0">
                <a:latin typeface="+mn-lt"/>
                <a:ea typeface="+mn-ea"/>
                <a:cs typeface="+mn-cs"/>
                <a:sym typeface="Helvetica Neue"/>
              </a:rPr>
              <a:t>is a collection of related objects that we wish to treat as a unit.</a:t>
            </a:r>
            <a:endParaRPr lang="en-US" smtClean="0"/>
          </a:p>
          <a:p>
            <a:r>
              <a:rPr lang="en-US" sz="2200" b="0" i="0" u="none" strike="noStrike" baseline="0" smtClean="0">
                <a:latin typeface="+mn-lt"/>
                <a:ea typeface="+mn-ea"/>
                <a:cs typeface="+mn-cs"/>
                <a:sym typeface="Helvetica Neue"/>
              </a:rPr>
              <a:t>Relational </a:t>
            </a:r>
            <a:r>
              <a:rPr lang="en-US" sz="2200" b="0" i="0" u="none" strike="noStrike" baseline="0" dirty="0" smtClean="0">
                <a:latin typeface="+mn-lt"/>
                <a:ea typeface="+mn-ea"/>
                <a:cs typeface="+mn-cs"/>
                <a:sym typeface="Helvetica Neue"/>
              </a:rPr>
              <a:t>databases have no concept of aggregate within their data model, so we call them </a:t>
            </a:r>
            <a:r>
              <a:rPr lang="es-AR" sz="2200" b="1" i="0" u="none" strike="noStrike" baseline="0" dirty="0" err="1" smtClean="0">
                <a:latin typeface="+mn-lt"/>
                <a:ea typeface="+mn-ea"/>
                <a:cs typeface="+mn-cs"/>
                <a:sym typeface="Helvetica Neue"/>
              </a:rPr>
              <a:t>aggregate-ignorant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" name="Shape 2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, solo </a:t>
            </a:r>
            <a:r>
              <a:rPr dirty="0" err="1"/>
              <a:t>tenemos</a:t>
            </a:r>
            <a:r>
              <a:rPr dirty="0"/>
              <a:t> Customer y Order.</a:t>
            </a:r>
          </a:p>
          <a:p>
            <a:r>
              <a:rPr dirty="0"/>
              <a:t>“Lo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aquí</a:t>
            </a:r>
            <a:r>
              <a:rPr dirty="0"/>
              <a:t> no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tanto</a:t>
            </a:r>
            <a:r>
              <a:rPr dirty="0"/>
              <a:t> la forma </a:t>
            </a:r>
            <a:r>
              <a:rPr dirty="0" err="1"/>
              <a:t>en</a:t>
            </a:r>
            <a:r>
              <a:rPr dirty="0"/>
              <a:t> que </a:t>
            </a:r>
            <a:r>
              <a:rPr dirty="0" err="1"/>
              <a:t>hemos</a:t>
            </a:r>
            <a:r>
              <a:rPr dirty="0"/>
              <a:t> </a:t>
            </a:r>
            <a:r>
              <a:rPr dirty="0" err="1"/>
              <a:t>trazado</a:t>
            </a:r>
            <a:r>
              <a:rPr dirty="0"/>
              <a:t> el </a:t>
            </a:r>
            <a:r>
              <a:rPr dirty="0" err="1"/>
              <a:t>límite</a:t>
            </a:r>
            <a:r>
              <a:rPr dirty="0"/>
              <a:t> </a:t>
            </a:r>
            <a:r>
              <a:rPr dirty="0" err="1"/>
              <a:t>agregado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</a:t>
            </a:r>
            <a:r>
              <a:rPr dirty="0" err="1"/>
              <a:t>hecho</a:t>
            </a:r>
            <a:r>
              <a:rPr dirty="0"/>
              <a:t> de que </a:t>
            </a:r>
            <a:r>
              <a:rPr dirty="0" err="1"/>
              <a:t>tienes</a:t>
            </a:r>
            <a:r>
              <a:rPr dirty="0"/>
              <a:t> que </a:t>
            </a:r>
            <a:r>
              <a:rPr dirty="0" err="1"/>
              <a:t>pensar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acceder</a:t>
            </a:r>
            <a:r>
              <a:rPr dirty="0"/>
              <a:t> a </a:t>
            </a:r>
            <a:r>
              <a:rPr dirty="0" err="1"/>
              <a:t>esos</a:t>
            </a:r>
            <a:r>
              <a:rPr dirty="0"/>
              <a:t> </a:t>
            </a:r>
            <a:r>
              <a:rPr dirty="0" err="1" smtClean="0"/>
              <a:t>datos</a:t>
            </a:r>
            <a:r>
              <a:rPr dirty="0" smtClean="0"/>
              <a:t>”</a:t>
            </a:r>
            <a:r>
              <a:rPr lang="es-AR" dirty="0" smtClean="0"/>
              <a:t> </a:t>
            </a:r>
            <a:r>
              <a:rPr dirty="0" smtClean="0"/>
              <a:t>del </a:t>
            </a:r>
            <a:r>
              <a:rPr dirty="0" err="1"/>
              <a:t>libro</a:t>
            </a:r>
            <a:r>
              <a:rPr dirty="0"/>
              <a:t> “</a:t>
            </a:r>
            <a:r>
              <a:rPr i="1" dirty="0"/>
              <a:t>NoSQL Distilled</a:t>
            </a:r>
            <a:r>
              <a:rPr dirty="0"/>
              <a:t>” </a:t>
            </a:r>
            <a:r>
              <a:rPr dirty="0" smtClean="0"/>
              <a:t>Fowler/</a:t>
            </a:r>
            <a:r>
              <a:rPr dirty="0" err="1" smtClean="0"/>
              <a:t>Sadalage</a:t>
            </a:r>
            <a:endParaRPr lang="es-AR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hape 2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Notar la repetición de las </a:t>
            </a:r>
            <a:r>
              <a:rPr i="1"/>
              <a:t>Addresses</a:t>
            </a:r>
          </a:p>
          <a:p>
            <a:r>
              <a:t>Es solo un ejemplo, podría estar todo metido en la agregación “Customer”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5" name="Shape 2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•"/>
            </a:pPr>
            <a:r>
              <a:t>Las agregaciones ayudan a mantener la información relevante </a:t>
            </a:r>
            <a:r>
              <a:rPr b="1"/>
              <a:t>cerca</a:t>
            </a:r>
          </a:p>
          <a:p>
            <a:pPr marL="279400" indent="-279400">
              <a:buSzPct val="123000"/>
              <a:buChar char="•"/>
            </a:pPr>
            <a:r>
              <a:t>Buena medida para una arquitectura con </a:t>
            </a:r>
            <a:r>
              <a:rPr b="1"/>
              <a:t>clusters</a:t>
            </a:r>
          </a:p>
          <a:p>
            <a:pPr marL="279400" indent="-279400">
              <a:buSzPct val="123000"/>
              <a:buChar char="•"/>
            </a:pPr>
            <a:r>
              <a:t>Hay que diseñar el </a:t>
            </a:r>
            <a:r>
              <a:rPr b="1"/>
              <a:t>límite</a:t>
            </a:r>
          </a:p>
          <a:p>
            <a:pPr marL="279400" indent="-279400">
              <a:buSzPct val="123000"/>
              <a:buChar char="•"/>
            </a:pPr>
            <a:r>
              <a:t>Para esto, hay que considerar qué información vamos a </a:t>
            </a:r>
            <a:r>
              <a:rPr b="1"/>
              <a:t>consultar</a:t>
            </a:r>
          </a:p>
          <a:p>
            <a:pPr marL="279400" indent="-279400">
              <a:buSzPct val="123000"/>
              <a:buChar char="•"/>
            </a:pPr>
            <a:r>
              <a:t>En el ejemplo, si necesitamos frecuentemente consultar reservas hechas, puede no ser una buena idea embeberlas en el cliente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8" name="Shape 2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•"/>
            </a:pPr>
            <a:r>
              <a:t>Se suele decir que las BBDD NoSQL </a:t>
            </a:r>
            <a:r>
              <a:rPr b="1"/>
              <a:t>no soportan</a:t>
            </a:r>
            <a:r>
              <a:t> transacciones</a:t>
            </a:r>
          </a:p>
          <a:p>
            <a:pPr marL="279400" indent="-279400">
              <a:buSzPct val="123000"/>
              <a:buChar char="•"/>
            </a:pPr>
            <a:r>
              <a:t>Esto no es cierto, simplemente tienen diferente granularidad</a:t>
            </a:r>
          </a:p>
          <a:p>
            <a:pPr marL="279400" indent="-279400">
              <a:buSzPct val="123000"/>
              <a:buChar char="•"/>
            </a:pPr>
            <a:r>
              <a:t>Además, se fueron agregando a los diferentes productos (ej. MongoDB)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7" name="Shape 2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Clave-Valor </a:t>
            </a:r>
            <a:r>
              <a:rPr b="0"/>
              <a:t>(Redis, DynamoDB, Riak) </a:t>
            </a:r>
          </a:p>
          <a:p>
            <a:r>
              <a:t>	- estilo tablas hash, el valor suele ser libre - no da mucho lugar a queries </a:t>
            </a:r>
          </a:p>
          <a:p>
            <a:r>
              <a:t>	- útiles para guardar información básica (sin relaciones externas) con pocos </a:t>
            </a:r>
            <a:r>
              <a:rPr i="1"/>
              <a:t>updates</a:t>
            </a:r>
          </a:p>
          <a:p>
            <a:r>
              <a:t>	- casos de uso frecuentes: sesiones y cachés</a:t>
            </a:r>
          </a:p>
          <a:p>
            <a:pPr>
              <a:defRPr b="1"/>
            </a:pPr>
            <a:r>
              <a:t>Documentos</a:t>
            </a:r>
          </a:p>
          <a:p>
            <a:r>
              <a:t>	- agregaciones con estructura - permite queries</a:t>
            </a:r>
          </a:p>
          <a:p>
            <a:r>
              <a:t>	- sin </a:t>
            </a:r>
            <a:r>
              <a:rPr i="1"/>
              <a:t>schema</a:t>
            </a:r>
            <a:r>
              <a:t> fijo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0" name="Shape 3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Familias de Columnas </a:t>
            </a:r>
            <a:r>
              <a:rPr b="0"/>
              <a:t>(Cassandra, Base) </a:t>
            </a:r>
          </a:p>
          <a:p>
            <a:r>
              <a:t>	- almacenamiento enfocado en columnas, no filas</a:t>
            </a:r>
          </a:p>
          <a:p>
            <a:r>
              <a:t>	- se suelen juntar varias columnas por afinidad para formar familias de columnas</a:t>
            </a:r>
          </a:p>
          <a:p>
            <a:r>
              <a:t>	- se pueden </a:t>
            </a:r>
            <a:r>
              <a:rPr b="1"/>
              <a:t>agregar</a:t>
            </a:r>
            <a:r>
              <a:t> columnas a una fila existente</a:t>
            </a:r>
          </a:p>
          <a:p>
            <a:r>
              <a:t>	- Cassandra por ej. usa otra terminología: </a:t>
            </a:r>
            <a:r>
              <a:rPr i="1"/>
              <a:t>supercolumnas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 pueden relacionar agregaciones, pero</a:t>
            </a:r>
          </a:p>
          <a:p>
            <a:pPr marL="279400" indent="-279400">
              <a:buSzPct val="123000"/>
              <a:buChar char="-"/>
            </a:pPr>
            <a:r>
              <a:t>Las BD NoSQL no saben de esto, generalmente. Algunas sí:</a:t>
            </a:r>
          </a:p>
          <a:p>
            <a:pPr marL="889000" lvl="1" indent="-279400">
              <a:buSzPct val="123000"/>
              <a:buChar char="-"/>
            </a:pPr>
            <a:r>
              <a:t>Riak permite usar metadata de relaciones</a:t>
            </a:r>
          </a:p>
          <a:p>
            <a:pPr marL="889000" lvl="1" indent="-279400">
              <a:buSzPct val="123000"/>
              <a:buChar char="-"/>
            </a:pPr>
            <a:r>
              <a:t>Mongo permite poner índices sobre contenido de la agregación</a:t>
            </a:r>
          </a:p>
          <a:p>
            <a:pPr marL="279400" indent="-279400">
              <a:buSzPct val="123000"/>
              <a:buChar char="-"/>
            </a:pPr>
            <a:r>
              <a:t>Las tx tienen alcance dentro de la agregación</a:t>
            </a:r>
          </a:p>
          <a:p>
            <a:r>
              <a:t>Para muchas relaciones sería mejor una BD Relacional, pero:</a:t>
            </a:r>
          </a:p>
          <a:p>
            <a:pPr marL="279400" indent="-279400">
              <a:buSzPct val="123000"/>
              <a:buChar char="-"/>
            </a:pPr>
            <a:r>
              <a:t>tampoco son tan buenas con relaciones complejas.</a:t>
            </a:r>
          </a:p>
          <a:p>
            <a:pPr marL="279400" indent="-279400">
              <a:buSzPct val="123000"/>
              <a:buChar char="-"/>
            </a:pPr>
            <a:r>
              <a:t>rápidamente se puede complicar a medida que se suman los JOINs</a:t>
            </a:r>
          </a:p>
        </p:txBody>
      </p:sp>
    </p:spTree>
    <p:extLst>
      <p:ext uri="{BB962C8B-B14F-4D97-AF65-F5344CB8AC3E}">
        <p14:creationId xmlns:p14="http://schemas.microsoft.com/office/powerpoint/2010/main" val="81610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9" name="Shape 1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orientadas a grafo resuelven este problema.</a:t>
            </a:r>
          </a:p>
          <a:p>
            <a:r>
              <a:t>Suelen necesitar arquitectura monolítica, a diferencia del resto del mundo NoSQL</a:t>
            </a:r>
          </a:p>
          <a:p>
            <a:r>
              <a:t>Resuelven </a:t>
            </a:r>
            <a:r>
              <a:rPr i="1"/>
              <a:t>otro</a:t>
            </a:r>
            <a:r>
              <a:t> problema de los RDBMS, así que son diferentes de las otras NoSQL</a:t>
            </a:r>
          </a:p>
          <a:p>
            <a:r>
              <a:t>Inserts caros - queries baratas</a:t>
            </a:r>
          </a:p>
        </p:txBody>
      </p:sp>
    </p:spTree>
    <p:extLst>
      <p:ext uri="{BB962C8B-B14F-4D97-AF65-F5344CB8AC3E}">
        <p14:creationId xmlns:p14="http://schemas.microsoft.com/office/powerpoint/2010/main" val="871195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8" name="Shape 20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Productos: Neo4J / ArangoDB / FlockDB / Neptune</a:t>
            </a:r>
          </a:p>
          <a:p>
            <a:r>
              <a:t>Caso de uso: </a:t>
            </a:r>
          </a:p>
          <a:p>
            <a:r>
              <a:t>	- Redes de personas</a:t>
            </a:r>
          </a:p>
          <a:p>
            <a:r>
              <a:t>	- Redes de Conocimiento</a:t>
            </a:r>
          </a:p>
          <a:p>
            <a:r>
              <a:t>	- Web semántica</a:t>
            </a:r>
          </a:p>
          <a:p>
            <a:r>
              <a:t>Queries complejas, con largos caminos. </a:t>
            </a:r>
            <a:r>
              <a:rPr i="1"/>
              <a:t>Buscar los clientes que tengan un vehículo con fabricante que tengan un valor de etc etc…</a:t>
            </a:r>
          </a:p>
          <a:p>
            <a:r>
              <a:rPr b="1"/>
              <a:t>neo4J</a:t>
            </a:r>
            <a:r>
              <a:t> permite aristas con datos / Lenguaje de consultas: </a:t>
            </a:r>
            <a:r>
              <a:rPr b="1"/>
              <a:t>Cypher</a:t>
            </a:r>
          </a:p>
          <a:p>
            <a:r>
              <a:t>Algoritmos de grafo</a:t>
            </a:r>
          </a:p>
        </p:txBody>
      </p:sp>
    </p:spTree>
    <p:extLst>
      <p:ext uri="{BB962C8B-B14F-4D97-AF65-F5344CB8AC3E}">
        <p14:creationId xmlns:p14="http://schemas.microsoft.com/office/powerpoint/2010/main" val="2079344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" name="Shape 21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●"/>
            </a:pPr>
            <a:r>
              <a:rPr dirty="0"/>
              <a:t>Base de </a:t>
            </a:r>
            <a:r>
              <a:rPr dirty="0" err="1"/>
              <a:t>datos</a:t>
            </a:r>
            <a:r>
              <a:rPr dirty="0"/>
              <a:t> NOSQL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 smtClean="0"/>
              <a:t>documentos</a:t>
            </a:r>
            <a:endParaRPr lang="es-ES" dirty="0" smtClean="0"/>
          </a:p>
          <a:p>
            <a:pPr marL="279400" indent="-279400">
              <a:buSzPct val="123000"/>
              <a:buChar char="●"/>
            </a:pPr>
            <a:r>
              <a:rPr lang="es-ES" dirty="0" smtClean="0"/>
              <a:t>Basada en </a:t>
            </a:r>
            <a:r>
              <a:rPr lang="es-ES" dirty="0" err="1" smtClean="0"/>
              <a:t>hashing</a:t>
            </a:r>
            <a:endParaRPr dirty="0"/>
          </a:p>
          <a:p>
            <a:pPr marL="279400" indent="-279400">
              <a:buSzPct val="123000"/>
              <a:buChar char="●"/>
            </a:pPr>
            <a:r>
              <a:rPr dirty="0"/>
              <a:t>No </a:t>
            </a:r>
            <a:r>
              <a:rPr dirty="0" err="1"/>
              <a:t>maneja</a:t>
            </a:r>
            <a:r>
              <a:rPr dirty="0"/>
              <a:t> la </a:t>
            </a:r>
            <a:r>
              <a:rPr dirty="0" err="1"/>
              <a:t>noción</a:t>
            </a:r>
            <a:r>
              <a:rPr dirty="0"/>
              <a:t> de </a:t>
            </a:r>
            <a:r>
              <a:rPr dirty="0" err="1"/>
              <a:t>esquemas</a:t>
            </a:r>
            <a:endParaRPr dirty="0"/>
          </a:p>
          <a:p>
            <a:pPr marL="279400" indent="-279400">
              <a:buSzPct val="123000"/>
              <a:buChar char="●"/>
            </a:pPr>
            <a:r>
              <a:rPr dirty="0" err="1"/>
              <a:t>Carece</a:t>
            </a:r>
            <a:r>
              <a:rPr dirty="0"/>
              <a:t> de un </a:t>
            </a:r>
            <a:r>
              <a:rPr dirty="0" err="1"/>
              <a:t>lenguaje</a:t>
            </a:r>
            <a:r>
              <a:rPr dirty="0"/>
              <a:t> DDL.</a:t>
            </a:r>
          </a:p>
          <a:p>
            <a:pPr marL="279400" indent="-279400">
              <a:buSzPct val="123000"/>
              <a:buChar char="●"/>
            </a:pPr>
            <a:r>
              <a:rPr dirty="0"/>
              <a:t>El </a:t>
            </a:r>
            <a:r>
              <a:rPr dirty="0" err="1"/>
              <a:t>formato</a:t>
            </a:r>
            <a:r>
              <a:rPr dirty="0"/>
              <a:t> de </a:t>
            </a:r>
            <a:r>
              <a:rPr dirty="0" err="1"/>
              <a:t>almacenamiento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BSON (Binary JSON).</a:t>
            </a:r>
          </a:p>
          <a:p>
            <a:pPr marL="279400" indent="-279400">
              <a:buSzPct val="123000"/>
              <a:buChar char="●"/>
            </a:pPr>
            <a:r>
              <a:rPr dirty="0"/>
              <a:t>BSON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tamaños</a:t>
            </a:r>
            <a:r>
              <a:rPr dirty="0"/>
              <a:t> de campo para mayor </a:t>
            </a:r>
            <a:r>
              <a:rPr dirty="0" err="1"/>
              <a:t>velocidad</a:t>
            </a:r>
            <a:r>
              <a:rPr dirty="0"/>
              <a:t> de </a:t>
            </a:r>
            <a:r>
              <a:rPr dirty="0" err="1"/>
              <a:t>lectura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0394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" name="Shape 2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Como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crecer</a:t>
            </a:r>
            <a:r>
              <a:rPr dirty="0"/>
              <a:t> (</a:t>
            </a:r>
            <a:r>
              <a:rPr dirty="0" err="1"/>
              <a:t>ej</a:t>
            </a:r>
            <a:r>
              <a:rPr dirty="0"/>
              <a:t>. </a:t>
            </a:r>
            <a:r>
              <a:rPr dirty="0" err="1"/>
              <a:t>sumando</a:t>
            </a:r>
            <a:r>
              <a:rPr dirty="0"/>
              <a:t> </a:t>
            </a:r>
            <a:r>
              <a:rPr dirty="0" err="1"/>
              <a:t>campos</a:t>
            </a:r>
            <a:r>
              <a:rPr dirty="0"/>
              <a:t>), se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 extra al </a:t>
            </a:r>
            <a:r>
              <a:rPr dirty="0" err="1"/>
              <a:t>crearse</a:t>
            </a:r>
            <a:r>
              <a:rPr dirty="0"/>
              <a:t> un </a:t>
            </a:r>
            <a:r>
              <a:rPr dirty="0" err="1"/>
              <a:t>documento</a:t>
            </a:r>
            <a:r>
              <a:rPr dirty="0"/>
              <a:t> que </a:t>
            </a:r>
            <a:r>
              <a:rPr dirty="0" err="1"/>
              <a:t>ayuda</a:t>
            </a:r>
            <a:r>
              <a:rPr dirty="0"/>
              <a:t> a </a:t>
            </a:r>
            <a:r>
              <a:rPr dirty="0" err="1"/>
              <a:t>acomodar</a:t>
            </a:r>
            <a:r>
              <a:rPr dirty="0"/>
              <a:t> </a:t>
            </a:r>
            <a:r>
              <a:rPr dirty="0" err="1"/>
              <a:t>pequeños</a:t>
            </a:r>
            <a:r>
              <a:rPr dirty="0"/>
              <a:t> </a:t>
            </a:r>
            <a:r>
              <a:rPr dirty="0" err="1"/>
              <a:t>cambios</a:t>
            </a:r>
            <a:r>
              <a:rPr dirty="0"/>
              <a:t> sin </a:t>
            </a:r>
            <a:r>
              <a:rPr dirty="0" err="1"/>
              <a:t>necesidad</a:t>
            </a:r>
            <a:r>
              <a:rPr dirty="0"/>
              <a:t> de mover el </a:t>
            </a:r>
            <a:r>
              <a:rPr dirty="0" err="1"/>
              <a:t>documento</a:t>
            </a:r>
            <a:r>
              <a:rPr dirty="0"/>
              <a:t>. Performance vs. </a:t>
            </a:r>
            <a:r>
              <a:rPr dirty="0" err="1"/>
              <a:t>Espacio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Si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allá</a:t>
            </a:r>
            <a:r>
              <a:rPr dirty="0"/>
              <a:t> de </a:t>
            </a:r>
            <a:r>
              <a:rPr dirty="0" err="1"/>
              <a:t>este</a:t>
            </a:r>
            <a:r>
              <a:rPr dirty="0"/>
              <a:t> </a:t>
            </a:r>
            <a:r>
              <a:rPr i="1" dirty="0"/>
              <a:t>padding</a:t>
            </a:r>
            <a:r>
              <a:rPr dirty="0"/>
              <a:t>, (1) se </a:t>
            </a:r>
            <a:r>
              <a:rPr dirty="0" err="1"/>
              <a:t>mueve</a:t>
            </a:r>
            <a:r>
              <a:rPr dirty="0"/>
              <a:t> a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locación</a:t>
            </a:r>
            <a:r>
              <a:rPr dirty="0"/>
              <a:t> con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 (2)</a:t>
            </a:r>
          </a:p>
          <a:p>
            <a:r>
              <a:rPr dirty="0" err="1"/>
              <a:t>deja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i="1" dirty="0"/>
              <a:t>tombstone</a:t>
            </a:r>
            <a:r>
              <a:rPr dirty="0"/>
              <a:t> (deleted marker)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lugar</a:t>
            </a:r>
            <a:r>
              <a:rPr dirty="0"/>
              <a:t> original - </a:t>
            </a:r>
            <a:r>
              <a:rPr dirty="0" err="1"/>
              <a:t>fragmentación</a:t>
            </a:r>
            <a:r>
              <a:rPr dirty="0"/>
              <a:t> que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acumular</a:t>
            </a:r>
            <a:r>
              <a:rPr dirty="0"/>
              <a:t> :(</a:t>
            </a:r>
          </a:p>
          <a:p>
            <a:endParaRPr dirty="0"/>
          </a:p>
          <a:p>
            <a:r>
              <a:rPr dirty="0" err="1"/>
              <a:t>Entonces</a:t>
            </a:r>
            <a:r>
              <a:rPr dirty="0"/>
              <a:t>, MongoDB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compactar</a:t>
            </a:r>
            <a:r>
              <a:rPr dirty="0"/>
              <a:t>. </a:t>
            </a:r>
            <a:r>
              <a:rPr dirty="0" err="1"/>
              <a:t>WiredTiger</a:t>
            </a:r>
            <a:r>
              <a:rPr dirty="0"/>
              <a:t> (motor de </a:t>
            </a:r>
            <a:r>
              <a:rPr dirty="0" err="1"/>
              <a:t>almacenamiento</a:t>
            </a:r>
            <a:r>
              <a:rPr dirty="0"/>
              <a:t>) </a:t>
            </a:r>
            <a:r>
              <a:rPr dirty="0" err="1"/>
              <a:t>comprime</a:t>
            </a:r>
            <a:r>
              <a:rPr dirty="0"/>
              <a:t> (e.g., </a:t>
            </a:r>
            <a:r>
              <a:rPr dirty="0" err="1"/>
              <a:t>zlib</a:t>
            </a:r>
            <a:r>
              <a:rPr dirty="0"/>
              <a:t> or snappy) y compacta </a:t>
            </a:r>
            <a:r>
              <a:rPr dirty="0" err="1"/>
              <a:t>en</a:t>
            </a:r>
            <a:r>
              <a:rPr dirty="0"/>
              <a:t> background.</a:t>
            </a:r>
          </a:p>
          <a:p>
            <a:endParaRPr dirty="0"/>
          </a:p>
          <a:p>
            <a:r>
              <a:rPr dirty="0"/>
              <a:t>Los </a:t>
            </a:r>
            <a:r>
              <a:rPr dirty="0" err="1"/>
              <a:t>esquemas</a:t>
            </a:r>
            <a:r>
              <a:rPr dirty="0"/>
              <a:t> </a:t>
            </a:r>
            <a:r>
              <a:rPr dirty="0" err="1"/>
              <a:t>libres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llevar</a:t>
            </a:r>
            <a:r>
              <a:rPr dirty="0"/>
              <a:t> a </a:t>
            </a:r>
            <a:r>
              <a:rPr dirty="0" err="1"/>
              <a:t>inconsistencias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atributos</a:t>
            </a:r>
            <a:r>
              <a:rPr dirty="0"/>
              <a:t> o </a:t>
            </a:r>
            <a:r>
              <a:rPr dirty="0" err="1"/>
              <a:t>documentos</a:t>
            </a:r>
            <a:r>
              <a:rPr dirty="0"/>
              <a:t> </a:t>
            </a:r>
            <a:r>
              <a:rPr dirty="0" err="1"/>
              <a:t>embebidos</a:t>
            </a:r>
            <a:r>
              <a:rPr dirty="0"/>
              <a:t>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grandes</a:t>
            </a:r>
            <a:r>
              <a:rPr dirty="0"/>
              <a:t>. Los </a:t>
            </a:r>
            <a:r>
              <a:rPr dirty="0" err="1"/>
              <a:t>nombres</a:t>
            </a:r>
            <a:r>
              <a:rPr dirty="0"/>
              <a:t> de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documento</a:t>
            </a:r>
            <a:r>
              <a:rPr dirty="0"/>
              <a:t> son </a:t>
            </a:r>
            <a:r>
              <a:rPr dirty="0" err="1"/>
              <a:t>menos</a:t>
            </a:r>
            <a:r>
              <a:rPr dirty="0"/>
              <a:t> </a:t>
            </a:r>
            <a:r>
              <a:rPr dirty="0" err="1"/>
              <a:t>eficientes</a:t>
            </a:r>
            <a:r>
              <a:rPr dirty="0"/>
              <a:t> que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almacenamiento</a:t>
            </a:r>
            <a:r>
              <a:rPr dirty="0"/>
              <a:t> columnar.</a:t>
            </a:r>
          </a:p>
        </p:txBody>
      </p:sp>
    </p:spTree>
    <p:extLst>
      <p:ext uri="{BB962C8B-B14F-4D97-AF65-F5344CB8AC3E}">
        <p14:creationId xmlns:p14="http://schemas.microsoft.com/office/powerpoint/2010/main" val="4178969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5" name="Shape 23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 tener esquema fijo es conveniente para desarrollar</a:t>
            </a:r>
          </a:p>
          <a:p>
            <a:r>
              <a:t>Pero esto no significa que vamos a tener documentos completamente heterogéneos, dado que igualmente se programa contra los mismos</a:t>
            </a:r>
          </a:p>
        </p:txBody>
      </p:sp>
    </p:spTree>
    <p:extLst>
      <p:ext uri="{BB962C8B-B14F-4D97-AF65-F5344CB8AC3E}">
        <p14:creationId xmlns:p14="http://schemas.microsoft.com/office/powerpoint/2010/main" val="3593610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Shape 2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Existen conceptos análogos entre RDBMS y BBDD de documentos.</a:t>
            </a:r>
          </a:p>
          <a:p>
            <a:r>
              <a:t>En MongoDB:</a:t>
            </a:r>
          </a:p>
          <a:p>
            <a:r>
              <a:t>	BD - BD</a:t>
            </a:r>
          </a:p>
          <a:p>
            <a:r>
              <a:t>	Tabla - Colección</a:t>
            </a:r>
          </a:p>
          <a:p>
            <a:r>
              <a:t>	Fila - Documento</a:t>
            </a:r>
          </a:p>
          <a:p>
            <a:r>
              <a:t>	Columna - Campo</a:t>
            </a:r>
          </a:p>
        </p:txBody>
      </p:sp>
    </p:spTree>
    <p:extLst>
      <p:ext uri="{BB962C8B-B14F-4D97-AF65-F5344CB8AC3E}">
        <p14:creationId xmlns:p14="http://schemas.microsoft.com/office/powerpoint/2010/main" val="650482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7" name="Shape 2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 </a:t>
            </a:r>
            <a:r>
              <a:rPr dirty="0" err="1"/>
              <a:t>documento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ser</a:t>
            </a:r>
            <a:r>
              <a:rPr dirty="0"/>
              <a:t> mayor a </a:t>
            </a:r>
            <a:r>
              <a:rPr b="1" dirty="0"/>
              <a:t>16mb</a:t>
            </a:r>
          </a:p>
          <a:p>
            <a:r>
              <a:rPr dirty="0"/>
              <a:t>Ni </a:t>
            </a:r>
            <a:r>
              <a:rPr dirty="0" err="1"/>
              <a:t>siquiera</a:t>
            </a:r>
            <a:r>
              <a:rPr dirty="0"/>
              <a:t> las </a:t>
            </a:r>
            <a:r>
              <a:rPr dirty="0" err="1"/>
              <a:t>referencias</a:t>
            </a:r>
            <a:r>
              <a:rPr dirty="0"/>
              <a:t> </a:t>
            </a:r>
            <a:r>
              <a:rPr dirty="0" err="1"/>
              <a:t>sirven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escenario</a:t>
            </a:r>
            <a:r>
              <a:rPr dirty="0"/>
              <a:t> de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relaciones</a:t>
            </a:r>
            <a:endParaRPr dirty="0"/>
          </a:p>
          <a:p>
            <a:r>
              <a:rPr dirty="0" err="1"/>
              <a:t>En</a:t>
            </a:r>
            <a:r>
              <a:rPr dirty="0"/>
              <a:t> ese </a:t>
            </a:r>
            <a:r>
              <a:rPr dirty="0" err="1"/>
              <a:t>caso</a:t>
            </a:r>
            <a:r>
              <a:rPr dirty="0"/>
              <a:t>,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usar</a:t>
            </a:r>
            <a:r>
              <a:rPr dirty="0"/>
              <a:t> </a:t>
            </a:r>
            <a:r>
              <a:rPr b="1" dirty="0" err="1"/>
              <a:t>Referencia</a:t>
            </a:r>
            <a:r>
              <a:rPr b="1" dirty="0"/>
              <a:t> al Padre</a:t>
            </a:r>
          </a:p>
        </p:txBody>
      </p:sp>
    </p:spTree>
    <p:extLst>
      <p:ext uri="{BB962C8B-B14F-4D97-AF65-F5344CB8AC3E}">
        <p14:creationId xmlns:p14="http://schemas.microsoft.com/office/powerpoint/2010/main" val="3328683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8" name="Shape 2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279400" indent="-279400">
              <a:buSzPct val="123000"/>
              <a:buChar char="•"/>
            </a:pPr>
            <a:r>
              <a:t>Los índices se definen a nivel de las “collections”.</a:t>
            </a:r>
          </a:p>
          <a:p>
            <a:pPr marL="279400" indent="-279400">
              <a:buSzPct val="123000"/>
              <a:buChar char="•"/>
            </a:pPr>
            <a:r>
              <a:t>Se puede hacer en background, sin bloquear la BD </a:t>
            </a:r>
          </a:p>
          <a:p>
            <a:pPr marL="279400" indent="-279400">
              <a:buSzPct val="123000"/>
              <a:buChar char="•"/>
            </a:pPr>
            <a:r>
              <a:t>Se soportan índices por cualquier campo o </a:t>
            </a:r>
            <a:r>
              <a:rPr b="1"/>
              <a:t>subcampo</a:t>
            </a:r>
            <a:r>
              <a:t> del documento.</a:t>
            </a:r>
          </a:p>
          <a:p>
            <a:pPr marL="279400" indent="-279400">
              <a:buSzPct val="123000"/>
              <a:buChar char="•"/>
            </a:pPr>
            <a:r>
              <a:t>MongoDB crea un índice sobre el campo _id durante la creación de una colección. Este índice controla la unicidad del valor del _id. No se puede eliminar este índice.</a:t>
            </a:r>
          </a:p>
        </p:txBody>
      </p:sp>
    </p:spTree>
    <p:extLst>
      <p:ext uri="{BB962C8B-B14F-4D97-AF65-F5344CB8AC3E}">
        <p14:creationId xmlns:p14="http://schemas.microsoft.com/office/powerpoint/2010/main" val="2881793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 smtClean="0"/>
              <a:t>GeoJSON</a:t>
            </a:r>
            <a:r>
              <a:rPr lang="es-ES" baseline="0" dirty="0" smtClean="0"/>
              <a:t> define si es un punto, polígono, línea o </a:t>
            </a:r>
            <a:r>
              <a:rPr lang="es-ES" baseline="0" dirty="0" err="1" smtClean="0"/>
              <a:t>multi</a:t>
            </a:r>
            <a:r>
              <a:rPr lang="es-ES" baseline="0" dirty="0" smtClean="0"/>
              <a:t>-polígono.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257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2" name="Shape 3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El aggregation </a:t>
            </a:r>
            <a:r>
              <a:rPr dirty="0" err="1"/>
              <a:t>fwk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etapas</a:t>
            </a:r>
            <a:r>
              <a:rPr dirty="0"/>
              <a:t>, </a:t>
            </a:r>
            <a:r>
              <a:rPr dirty="0" err="1"/>
              <a:t>generando</a:t>
            </a:r>
            <a:r>
              <a:rPr dirty="0"/>
              <a:t> un pipeline</a:t>
            </a:r>
          </a:p>
          <a:p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facilita</a:t>
            </a:r>
            <a:r>
              <a:rPr dirty="0"/>
              <a:t> el </a:t>
            </a:r>
            <a:r>
              <a:rPr dirty="0" err="1"/>
              <a:t>manejo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 smtClean="0"/>
              <a:t>complejas</a:t>
            </a:r>
            <a:endParaRPr lang="es-ES" dirty="0" smtClean="0"/>
          </a:p>
          <a:p>
            <a:r>
              <a:rPr lang="es-ES" dirty="0" smtClean="0"/>
              <a:t>Mongo en la </a:t>
            </a:r>
            <a:r>
              <a:rPr lang="es-ES" dirty="0" err="1" smtClean="0"/>
              <a:t>doc</a:t>
            </a:r>
            <a:r>
              <a:rPr lang="es-ES" dirty="0" smtClean="0"/>
              <a:t> dice que no asegura el orden ni las veces que se aplica la función de agregación sobre</a:t>
            </a:r>
            <a:r>
              <a:rPr lang="es-ES" baseline="0" dirty="0" smtClean="0"/>
              <a:t> los datos, por lo que se debe </a:t>
            </a:r>
            <a:r>
              <a:rPr lang="es-ES" baseline="0" smtClean="0"/>
              <a:t>tener cuidado.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33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>
            <a:spLocks noGrp="1"/>
          </p:cNvSpPr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Hot-air balloons viewed from below against a blue sky"/>
          <p:cNvSpPr>
            <a:spLocks noGrp="1"/>
          </p:cNvSpPr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Hot-air balloons viewed from below against a blue sky"/>
          <p:cNvSpPr>
            <a:spLocks noGrp="1"/>
          </p:cNvSpPr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Close-up of the top of a hot-air balloon viewed from above"/>
          <p:cNvSpPr>
            <a:spLocks noGrp="1"/>
          </p:cNvSpPr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Hot-air balloons viewed from below against a blue sky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Hot-air balloons viewed from below against a blue sky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Julián Grigera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rPr lang="es-ES" dirty="0" smtClean="0"/>
              <a:t>Federico Orlando</a:t>
            </a:r>
            <a:endParaRPr dirty="0"/>
          </a:p>
        </p:txBody>
      </p:sp>
      <p:sp>
        <p:nvSpPr>
          <p:cNvPr id="152" name="Bases de Datos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Bases de Datos 2</a:t>
            </a:r>
          </a:p>
        </p:txBody>
      </p:sp>
      <p:sp>
        <p:nvSpPr>
          <p:cNvPr id="153" name="Teoría 06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Teoría</a:t>
            </a:r>
            <a:r>
              <a:rPr dirty="0"/>
              <a:t> </a:t>
            </a:r>
            <a:r>
              <a:rPr dirty="0" smtClean="0"/>
              <a:t>0</a:t>
            </a:r>
            <a:r>
              <a:rPr lang="es-ES" dirty="0" smtClean="0"/>
              <a:t>5</a:t>
            </a: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BDD Relacionale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181" name="Limitacion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Limitaciones</a:t>
            </a:r>
          </a:p>
        </p:txBody>
      </p:sp>
      <p:pic>
        <p:nvPicPr>
          <p:cNvPr id="18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411083" y="5815873"/>
            <a:ext cx="2114461" cy="20842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185" name="Pros y Contra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Pros y Contras</a:t>
            </a:r>
          </a:p>
        </p:txBody>
      </p:sp>
      <p:pic>
        <p:nvPicPr>
          <p:cNvPr id="18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91898" y="6468367"/>
            <a:ext cx="4000203" cy="381628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53233" y="6869494"/>
            <a:ext cx="3014030" cy="30140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66505" y="6920424"/>
            <a:ext cx="2747330" cy="29121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193" name="Diferencia de Impedancia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Diferencia de Impedancia</a:t>
            </a:r>
          </a:p>
        </p:txBody>
      </p:sp>
      <p:pic>
        <p:nvPicPr>
          <p:cNvPr id="19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94368" y="4934118"/>
            <a:ext cx="6528508" cy="68847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032285" y="5288451"/>
            <a:ext cx="10200646" cy="72318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200" name="Integració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Integración</a:t>
            </a:r>
          </a:p>
        </p:txBody>
      </p:sp>
      <p:pic>
        <p:nvPicPr>
          <p:cNvPr id="20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62678" y="6094218"/>
            <a:ext cx="6148709" cy="4162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36468" y="3289264"/>
            <a:ext cx="6502333" cy="92570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mph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0" dur="indefinite" fill="hold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2" animBg="1" advAuto="0"/>
      <p:bldP spid="202" grpId="1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BBDD Relaciona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Relacionales</a:t>
            </a:r>
          </a:p>
        </p:txBody>
      </p:sp>
      <p:sp>
        <p:nvSpPr>
          <p:cNvPr id="207" name="Volumen de Dat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Volumen de Datos</a:t>
            </a:r>
          </a:p>
        </p:txBody>
      </p:sp>
      <p:grpSp>
        <p:nvGrpSpPr>
          <p:cNvPr id="214" name="Group"/>
          <p:cNvGrpSpPr/>
          <p:nvPr/>
        </p:nvGrpSpPr>
        <p:grpSpPr>
          <a:xfrm>
            <a:off x="5619760" y="7281347"/>
            <a:ext cx="12388895" cy="1285325"/>
            <a:chOff x="0" y="0"/>
            <a:chExt cx="12388894" cy="1285323"/>
          </a:xfrm>
        </p:grpSpPr>
        <p:pic>
          <p:nvPicPr>
            <p:cNvPr id="20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332062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211366" y="0"/>
              <a:ext cx="1332063" cy="1285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422733" y="0"/>
              <a:ext cx="1332062" cy="1285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1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634098" y="0"/>
              <a:ext cx="1332063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2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845465" y="0"/>
              <a:ext cx="1332063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3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056832" y="0"/>
              <a:ext cx="1332063" cy="128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1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302250" y="6470204"/>
            <a:ext cx="3023915" cy="29076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1000" fill="hold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1000" fill="hold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2" animBg="1" advAuto="0"/>
      <p:bldP spid="215" grpId="1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BBDDs NoSQ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BBDDs NoSQL</a:t>
            </a:r>
          </a:p>
        </p:txBody>
      </p:sp>
      <p:sp>
        <p:nvSpPr>
          <p:cNvPr id="220" name="Nuevas generacion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Nuevas generaciones</a:t>
            </a:r>
          </a:p>
        </p:txBody>
      </p:sp>
      <p:pic>
        <p:nvPicPr>
          <p:cNvPr id="22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15998" y="5037894"/>
            <a:ext cx="4538133" cy="36402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#NoSQ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#NoSQL</a:t>
            </a:r>
          </a:p>
        </p:txBody>
      </p:sp>
      <p:sp>
        <p:nvSpPr>
          <p:cNvPr id="224" name="Bases de Datos No-Relacional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Bases de Datos No-Relacionales</a:t>
            </a: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4609" y="5005301"/>
            <a:ext cx="3378003" cy="3927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225463" y="4187573"/>
            <a:ext cx="2816881" cy="49701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132206" y="10164572"/>
            <a:ext cx="14533857" cy="17777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32" name="No, esas n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No, esas no</a:t>
            </a:r>
          </a:p>
        </p:txBody>
      </p:sp>
      <p:pic>
        <p:nvPicPr>
          <p:cNvPr id="23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44415" y="3157731"/>
            <a:ext cx="13516520" cy="98251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38" name="Diseñ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Diseño</a:t>
            </a:r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5724" y="3273140"/>
            <a:ext cx="15383280" cy="9233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44" name="Diseño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Diseño</a:t>
            </a:r>
          </a:p>
        </p:txBody>
      </p:sp>
      <p:sp>
        <p:nvSpPr>
          <p:cNvPr id="245" name="// in customers…"/>
          <p:cNvSpPr txBox="1"/>
          <p:nvPr/>
        </p:nvSpPr>
        <p:spPr>
          <a:xfrm>
            <a:off x="1151021" y="4043913"/>
            <a:ext cx="6938542" cy="6099933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0" tIns="381000" rIns="381000" bIns="381000" anchor="ctr">
            <a:spAutoFit/>
          </a:bodyPr>
          <a:lstStyle/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// in customers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"id":1,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"name":"Martin",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“billingAddress":[</a:t>
            </a:r>
          </a:p>
          <a:p>
            <a:pPr lvl="1"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{“city”:"Chicago"}</a:t>
            </a:r>
          </a:p>
          <a:p>
            <a:pPr lvl="1"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]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46" name="// in orders…"/>
          <p:cNvSpPr txBox="1"/>
          <p:nvPr/>
        </p:nvSpPr>
        <p:spPr>
          <a:xfrm>
            <a:off x="10114426" y="442534"/>
            <a:ext cx="13708250" cy="12830932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1000" tIns="381000" rIns="381000" bIns="381000" anchor="ctr">
            <a:spAutoFit/>
          </a:bodyPr>
          <a:lstStyle/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// in orders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"customerId":1,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"orderItems":[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"productId":27,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"price": 32.45,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"productName": "NoSQL Distilled"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} ], 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"shippingAddress":[{"city":"Chicago"}]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"orderPayment":[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{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  "ccinfo":"1000-1000-1000-1000",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  "txnId":"abelif879rft",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    "billingAddress": {"city": "Chicago"}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} </a:t>
            </a:r>
          </a:p>
          <a:p>
            <a:pPr algn="l">
              <a:defRPr sz="4500">
                <a:latin typeface="Consolas"/>
                <a:ea typeface="Consolas"/>
                <a:cs typeface="Consolas"/>
                <a:sym typeface="Consolas"/>
              </a:defRPr>
            </a:pPr>
            <a:r>
              <a:t>], }</a:t>
            </a:r>
          </a:p>
        </p:txBody>
      </p:sp>
      <p:grpSp>
        <p:nvGrpSpPr>
          <p:cNvPr id="251" name="Group"/>
          <p:cNvGrpSpPr/>
          <p:nvPr/>
        </p:nvGrpSpPr>
        <p:grpSpPr>
          <a:xfrm>
            <a:off x="2045835" y="7518656"/>
            <a:ext cx="21293029" cy="4248898"/>
            <a:chOff x="-107950" y="-107950"/>
            <a:chExt cx="21293027" cy="4248897"/>
          </a:xfrm>
        </p:grpSpPr>
        <p:pic>
          <p:nvPicPr>
            <p:cNvPr id="247" name="Rounded Rectangle Rounded rectangle" descr="Rounded Rectangle Rounded rectangle"/>
            <p:cNvPicPr>
              <a:picLocks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07950" y="-107950"/>
              <a:ext cx="5774918" cy="1084955"/>
            </a:xfrm>
            <a:prstGeom prst="rect">
              <a:avLst/>
            </a:prstGeom>
            <a:effectLst/>
          </p:spPr>
        </p:pic>
        <p:pic>
          <p:nvPicPr>
            <p:cNvPr id="249" name="Rounded Rectangle Rounded rectangle" descr="Rounded Rectangle Rounded rectangle"/>
            <p:cNvPicPr>
              <a:picLocks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5410160" y="3055993"/>
              <a:ext cx="5774918" cy="108495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04441" y="3441943"/>
            <a:ext cx="5488717" cy="986913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1" name="Group"/>
          <p:cNvGrpSpPr/>
          <p:nvPr/>
        </p:nvGrpSpPr>
        <p:grpSpPr>
          <a:xfrm>
            <a:off x="13330794" y="1875329"/>
            <a:ext cx="1353626" cy="11355773"/>
            <a:chOff x="0" y="0"/>
            <a:chExt cx="1353625" cy="11355771"/>
          </a:xfrm>
        </p:grpSpPr>
        <p:pic>
          <p:nvPicPr>
            <p:cNvPr id="257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353626" cy="2609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8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2915458"/>
              <a:ext cx="1353626" cy="260939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5830916"/>
              <a:ext cx="1353626" cy="26093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0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8746373"/>
              <a:ext cx="1353626" cy="26093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62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584803" y="6265752"/>
            <a:ext cx="1366654" cy="3255850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Consideraciones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l" defTabSz="825500">
              <a:defRPr sz="5500" b="1">
                <a:solidFill>
                  <a:srgbClr val="000000"/>
                </a:solidFill>
              </a:defRPr>
            </a:lvl1pPr>
          </a:lstStyle>
          <a:p>
            <a:r>
              <a:t>Consideraciones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1" animBg="1" advAuto="0"/>
      <p:bldP spid="262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Agreg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Agregaciones</a:t>
            </a:r>
          </a:p>
        </p:txBody>
      </p:sp>
      <p:sp>
        <p:nvSpPr>
          <p:cNvPr id="268" name="Transacciones"/>
          <p:cNvSpPr txBox="1"/>
          <p:nvPr/>
        </p:nvSpPr>
        <p:spPr>
          <a:xfrm>
            <a:off x="1206500" y="2245962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l" defTabSz="825500">
              <a:defRPr sz="5500" b="1">
                <a:solidFill>
                  <a:srgbClr val="000000"/>
                </a:solidFill>
              </a:defRPr>
            </a:lvl1pPr>
          </a:lstStyle>
          <a:p>
            <a:r>
              <a:t>Transacciones</a:t>
            </a:r>
          </a:p>
        </p:txBody>
      </p:sp>
      <p:pic>
        <p:nvPicPr>
          <p:cNvPr id="26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63312" y="5531740"/>
            <a:ext cx="5051534" cy="452637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6" name="Group"/>
          <p:cNvGrpSpPr/>
          <p:nvPr/>
        </p:nvGrpSpPr>
        <p:grpSpPr>
          <a:xfrm>
            <a:off x="15164145" y="5165628"/>
            <a:ext cx="3874177" cy="5258598"/>
            <a:chOff x="0" y="0"/>
            <a:chExt cx="3874175" cy="5258596"/>
          </a:xfrm>
        </p:grpSpPr>
        <p:pic>
          <p:nvPicPr>
            <p:cNvPr id="270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485900" cy="1320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1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968898"/>
              <a:ext cx="1485900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2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3937796"/>
              <a:ext cx="1485900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3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388275" y="3937796"/>
              <a:ext cx="1485901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4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388274" y="0"/>
              <a:ext cx="1485901" cy="1320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5" name="Image" descr="Image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388275" y="1968898"/>
              <a:ext cx="1485901" cy="1320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1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amilias NoSQ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Familias NoSQL</a:t>
            </a:r>
          </a:p>
        </p:txBody>
      </p:sp>
      <p:sp>
        <p:nvSpPr>
          <p:cNvPr id="281" name="Tipos de Modelos de Dat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Tipos de Modelos de Datos</a:t>
            </a:r>
          </a:p>
        </p:txBody>
      </p:sp>
      <p:pic>
        <p:nvPicPr>
          <p:cNvPr id="28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4609" y="5005301"/>
            <a:ext cx="5799757" cy="6742417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Clave - Valor"/>
          <p:cNvSpPr txBox="1"/>
          <p:nvPr/>
        </p:nvSpPr>
        <p:spPr>
          <a:xfrm>
            <a:off x="4804121" y="12152883"/>
            <a:ext cx="4691928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825500">
              <a:defRPr sz="5500" b="1">
                <a:solidFill>
                  <a:srgbClr val="000000"/>
                </a:solidFill>
              </a:defRPr>
            </a:pPr>
            <a:r>
              <a:rPr>
                <a:solidFill>
                  <a:srgbClr val="837534"/>
                </a:solidFill>
              </a:rPr>
              <a:t>Clave</a:t>
            </a:r>
            <a:r>
              <a:t> - </a:t>
            </a:r>
            <a:r>
              <a:rPr>
                <a:solidFill>
                  <a:srgbClr val="5E5E5E"/>
                </a:solidFill>
              </a:rPr>
              <a:t>Valor</a:t>
            </a:r>
          </a:p>
        </p:txBody>
      </p:sp>
      <p:pic>
        <p:nvPicPr>
          <p:cNvPr id="284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763204" y="4187573"/>
            <a:ext cx="4279141" cy="7550213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Documentos"/>
          <p:cNvSpPr txBox="1"/>
          <p:nvPr/>
        </p:nvSpPr>
        <p:spPr>
          <a:xfrm>
            <a:off x="15064861" y="12152883"/>
            <a:ext cx="4691929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defRPr sz="5500" b="1"/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5E5E5E"/>
                </a:solidFill>
              </a:rPr>
              <a:t>Documentos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Familias NoSQ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Familias NoSQL</a:t>
            </a:r>
          </a:p>
        </p:txBody>
      </p:sp>
      <p:sp>
        <p:nvSpPr>
          <p:cNvPr id="295" name="Tipos de Modelos de Dat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Tipos de Modelos de Datos</a:t>
            </a:r>
          </a:p>
        </p:txBody>
      </p:sp>
      <p:sp>
        <p:nvSpPr>
          <p:cNvPr id="296" name="Columna"/>
          <p:cNvSpPr txBox="1"/>
          <p:nvPr/>
        </p:nvSpPr>
        <p:spPr>
          <a:xfrm>
            <a:off x="9167884" y="12329793"/>
            <a:ext cx="4691928" cy="934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defRPr sz="5500" b="1"/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5E5E5E"/>
                </a:solidFill>
              </a:rPr>
              <a:t>Columna</a:t>
            </a:r>
          </a:p>
        </p:txBody>
      </p:sp>
      <p:pic>
        <p:nvPicPr>
          <p:cNvPr id="29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27811" y="7558149"/>
            <a:ext cx="17928378" cy="16367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29720" y="6772778"/>
            <a:ext cx="20332146" cy="24870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500" fill="hold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1" animBg="1" advAuto="0"/>
      <p:bldP spid="298" grpId="2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NoSQL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NoSQL</a:t>
            </a:r>
          </a:p>
        </p:txBody>
      </p:sp>
      <p:sp>
        <p:nvSpPr>
          <p:cNvPr id="182" name="Manejo de Relaciones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Manejo de Relaciones</a:t>
            </a:r>
          </a:p>
        </p:txBody>
      </p:sp>
    </p:spTree>
    <p:extLst>
      <p:ext uri="{BB962C8B-B14F-4D97-AF65-F5344CB8AC3E}">
        <p14:creationId xmlns:p14="http://schemas.microsoft.com/office/powerpoint/2010/main" val="35355905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l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Relaciones</a:t>
            </a:r>
          </a:p>
        </p:txBody>
      </p:sp>
      <p:sp>
        <p:nvSpPr>
          <p:cNvPr id="185" name="NoSQL vs. RD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NoSQL vs. RDMS</a:t>
            </a:r>
          </a:p>
        </p:txBody>
      </p:sp>
      <p:pic>
        <p:nvPicPr>
          <p:cNvPr id="18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783032" y="5266374"/>
            <a:ext cx="5034556" cy="5437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76184" y="5474198"/>
            <a:ext cx="5624009" cy="5437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66135" y="5454690"/>
            <a:ext cx="7286551" cy="50606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5380236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fill="hold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 advAuto="0"/>
      <p:bldP spid="187" grpId="0" animBg="1" advAuto="0"/>
      <p:bldP spid="188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lacion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Relaciones</a:t>
            </a:r>
          </a:p>
        </p:txBody>
      </p:sp>
      <p:sp>
        <p:nvSpPr>
          <p:cNvPr id="193" name="NoSQL vs. RD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NoSQL vs. RDMS</a:t>
            </a:r>
          </a:p>
        </p:txBody>
      </p:sp>
      <p:pic>
        <p:nvPicPr>
          <p:cNvPr id="19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4609" y="5005301"/>
            <a:ext cx="3378003" cy="3927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225463" y="4187573"/>
            <a:ext cx="2816881" cy="49701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132206" y="10164572"/>
            <a:ext cx="14533857" cy="17777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512550" y="3251381"/>
            <a:ext cx="5358899" cy="604747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65761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 animBg="1" advAuto="0"/>
      <p:bldP spid="197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BBDD Orientadas a Grafo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BBDD Orientadas a Grafos</a:t>
            </a:r>
          </a:p>
        </p:txBody>
      </p:sp>
      <p:sp>
        <p:nvSpPr>
          <p:cNvPr id="202" name="Ejempl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Ejemplos</a:t>
            </a:r>
          </a:p>
        </p:txBody>
      </p:sp>
      <p:pic>
        <p:nvPicPr>
          <p:cNvPr id="20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1064" y="4215153"/>
            <a:ext cx="4683858" cy="528569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507657" y="3579437"/>
            <a:ext cx="8824074" cy="632973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51500" y="10033544"/>
            <a:ext cx="13081000" cy="3289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Neo4j-logo_color.png" descr="Neo4j-logo_color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99730" y="6452661"/>
            <a:ext cx="5879431" cy="22065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1388449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" grpId="0" animBg="1" advAuto="0"/>
      <p:bldP spid="204" grpId="0" animBg="1" advAuto="0"/>
      <p:bldP spid="205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pic>
        <p:nvPicPr>
          <p:cNvPr id="21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00949" y="4533900"/>
            <a:ext cx="2081918" cy="4648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262372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14" name="Característica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Características</a:t>
            </a:r>
          </a:p>
        </p:txBody>
      </p:sp>
      <p:pic>
        <p:nvPicPr>
          <p:cNvPr id="21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3060" y="4121097"/>
            <a:ext cx="4823575" cy="8510825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{…"/>
          <p:cNvSpPr txBox="1"/>
          <p:nvPr/>
        </p:nvSpPr>
        <p:spPr>
          <a:xfrm>
            <a:off x="8646279" y="4346150"/>
            <a:ext cx="6250612" cy="8060719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“nombre": “Hugo Pérez”,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“dirección”: {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“calle”: “Calle 49”,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“numero”: 4213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“reservas":[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12/3,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12/5,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15/7, “detalle”: “2 p”}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]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17" name="\x16\x00\x00\x00…"/>
          <p:cNvSpPr txBox="1"/>
          <p:nvPr/>
        </p:nvSpPr>
        <p:spPr>
          <a:xfrm>
            <a:off x="16553653" y="6860750"/>
            <a:ext cx="6705291" cy="3031519"/>
          </a:xfrm>
          <a:prstGeom prst="rect">
            <a:avLst/>
          </a:prstGeom>
          <a:solidFill>
            <a:srgbClr val="000000"/>
          </a:solidFill>
          <a:ln w="50800">
            <a:solidFill>
              <a:srgbClr val="929292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\x16\x00\x00\x00         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\x02                     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hello\x00                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\x06\x00\x00\x00world\x00 </a:t>
            </a:r>
          </a:p>
          <a:p>
            <a:pPr algn="l">
              <a:defRPr sz="31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\x00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667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 advAuto="0"/>
      <p:bldP spid="217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Almacenamien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Almacenamiento</a:t>
            </a:r>
          </a:p>
        </p:txBody>
      </p:sp>
      <p:sp>
        <p:nvSpPr>
          <p:cNvPr id="222" name="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MongoDB</a:t>
            </a:r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48601" y="4736021"/>
            <a:ext cx="10864075" cy="8511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202476" y="4737248"/>
            <a:ext cx="16882041" cy="9475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195097" y="7429292"/>
            <a:ext cx="11794914" cy="21981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192591" y="7407433"/>
            <a:ext cx="10776095" cy="30407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700507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fill="hold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0" dur="1000" fill="hold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" grpId="0" animBg="1" advAuto="0"/>
      <p:bldP spid="224" grpId="0" animBg="1" advAuto="0"/>
      <p:bldP spid="225" grpId="0" animBg="1" advAuto="0"/>
      <p:bldP spid="225" grpId="1" animBg="1" advAuto="0"/>
      <p:bldP spid="226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31" name="“Schemaless”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“Schemaless”</a:t>
            </a:r>
          </a:p>
        </p:txBody>
      </p:sp>
      <p:sp>
        <p:nvSpPr>
          <p:cNvPr id="232" name="{…"/>
          <p:cNvSpPr txBox="1"/>
          <p:nvPr/>
        </p:nvSpPr>
        <p:spPr>
          <a:xfrm>
            <a:off x="3635431" y="4569564"/>
            <a:ext cx="6250612" cy="8060718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“nombre": “Hugo Pérez”,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“dirección”: {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“calle”: “Calle 49”,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“numero”: 4213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“reservas":[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12/3,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12/5, “detalle”: “2 p”},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{“fecha”: 15/7, “detalle”: “2 p”}</a:t>
            </a:r>
          </a:p>
          <a:p>
            <a:pPr lvl="1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]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  <p:sp>
        <p:nvSpPr>
          <p:cNvPr id="233" name="{…"/>
          <p:cNvSpPr txBox="1"/>
          <p:nvPr/>
        </p:nvSpPr>
        <p:spPr>
          <a:xfrm>
            <a:off x="11199578" y="6169764"/>
            <a:ext cx="6250612" cy="4860318"/>
          </a:xfrm>
          <a:prstGeom prst="rect">
            <a:avLst/>
          </a:prstGeom>
          <a:solidFill>
            <a:srgbClr val="FCFCA7"/>
          </a:solidFill>
          <a:ln w="50800">
            <a:solidFill>
              <a:srgbClr val="D2CE79"/>
            </a:solidFill>
            <a:miter lim="400000"/>
          </a:ln>
          <a:effectLst>
            <a:outerShdw blurRad="114300" dist="38100" dir="5400000" rotWithShape="0">
              <a:srgbClr val="000000">
                <a:alpha val="3613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1000" tIns="381000" rIns="381000" bIns="381000" anchor="ctr">
            <a:spAutoFit/>
          </a:bodyPr>
          <a:lstStyle/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{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"id":99,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“nombre": “Ana Lamas”,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“dirección”: {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“calle”: “Calle 4”,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“numero”: 323,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“detalle”: esq 40</a:t>
            </a:r>
          </a:p>
          <a:p>
            <a:pPr lvl="2"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  <a:p>
            <a:pPr algn="l">
              <a:defRPr sz="3100">
                <a:latin typeface="Consolas"/>
                <a:ea typeface="Consolas"/>
                <a:cs typeface="Consolas"/>
                <a:sym typeface="Consolas"/>
              </a:defRPr>
            </a:pPr>
            <a: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699952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 advAuto="0"/>
      <p:bldP spid="233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38" name="Estructura vs. RDB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Estructura vs. RDBMS</a:t>
            </a:r>
          </a:p>
        </p:txBody>
      </p:sp>
      <p:pic>
        <p:nvPicPr>
          <p:cNvPr id="23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29143" y="5896554"/>
            <a:ext cx="1859846" cy="1922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15868" y="10130580"/>
            <a:ext cx="1859846" cy="1794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89239" y="6326480"/>
            <a:ext cx="635001" cy="142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54129" y="10390280"/>
            <a:ext cx="1779950" cy="12751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786363" y="10281713"/>
            <a:ext cx="3785781" cy="167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031119" y="5804172"/>
            <a:ext cx="3785781" cy="283338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7" name="Group"/>
          <p:cNvGrpSpPr/>
          <p:nvPr/>
        </p:nvGrpSpPr>
        <p:grpSpPr>
          <a:xfrm>
            <a:off x="13582792" y="5820872"/>
            <a:ext cx="4297154" cy="5857795"/>
            <a:chOff x="0" y="0"/>
            <a:chExt cx="4297152" cy="5857794"/>
          </a:xfrm>
        </p:grpSpPr>
        <p:pic>
          <p:nvPicPr>
            <p:cNvPr id="245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854462" y="0"/>
              <a:ext cx="2588227" cy="34231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6" name="Image" descr="Image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4738368"/>
              <a:ext cx="4297153" cy="1119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51" name="Group"/>
          <p:cNvGrpSpPr/>
          <p:nvPr/>
        </p:nvGrpSpPr>
        <p:grpSpPr>
          <a:xfrm>
            <a:off x="18067911" y="6838807"/>
            <a:ext cx="5643208" cy="5064497"/>
            <a:chOff x="0" y="0"/>
            <a:chExt cx="5643207" cy="5064496"/>
          </a:xfrm>
        </p:grpSpPr>
        <p:sp>
          <p:nvSpPr>
            <p:cNvPr id="248" name="Rectangle"/>
            <p:cNvSpPr/>
            <p:nvPr/>
          </p:nvSpPr>
          <p:spPr>
            <a:xfrm>
              <a:off x="0" y="0"/>
              <a:ext cx="5643208" cy="1275188"/>
            </a:xfrm>
            <a:prstGeom prst="rect">
              <a:avLst/>
            </a:prstGeom>
            <a:solidFill>
              <a:srgbClr val="E8F7C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pic>
          <p:nvPicPr>
            <p:cNvPr id="249" name="Image" descr="Image"/>
            <p:cNvPicPr>
              <a:picLocks noChangeAspect="1"/>
            </p:cNvPicPr>
            <p:nvPr/>
          </p:nvPicPr>
          <p:blipFill>
            <a:blip r:embed="rId11">
              <a:extLst/>
            </a:blip>
            <a:stretch>
              <a:fillRect/>
            </a:stretch>
          </p:blipFill>
          <p:spPr>
            <a:xfrm>
              <a:off x="1294889" y="3495795"/>
              <a:ext cx="3467655" cy="15687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50" name="name: “John Doe”"/>
            <p:cNvSpPr txBox="1"/>
            <p:nvPr/>
          </p:nvSpPr>
          <p:spPr>
            <a:xfrm>
              <a:off x="519100" y="387791"/>
              <a:ext cx="4605009" cy="6116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 defTabSz="12700"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4000">
                  <a:solidFill>
                    <a:srgbClr val="3B6420"/>
                  </a:solidFill>
                  <a:latin typeface="Consolas"/>
                  <a:ea typeface="Consolas"/>
                  <a:cs typeface="Consolas"/>
                  <a:sym typeface="Consolas"/>
                </a:defRPr>
              </a:lvl1pPr>
            </a:lstStyle>
            <a:p>
              <a:r>
                <a:t>name: “John Doe”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20417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 animBg="1" advAuto="0"/>
      <p:bldP spid="244" grpId="0" animBg="1" advAuto="0"/>
      <p:bldP spid="247" grpId="0" animBg="1" advAuto="0"/>
      <p:bldP spid="251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MongoD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MongoDB</a:t>
            </a:r>
          </a:p>
        </p:txBody>
      </p:sp>
      <p:sp>
        <p:nvSpPr>
          <p:cNvPr id="256" name="Relaciones - Prácticas comun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Relaciones - Prácticas comunes</a:t>
            </a:r>
          </a:p>
        </p:txBody>
      </p:sp>
      <p:pic>
        <p:nvPicPr>
          <p:cNvPr id="25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49615" y="5378450"/>
            <a:ext cx="4035785" cy="3901817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1 a Varios"/>
          <p:cNvSpPr txBox="1"/>
          <p:nvPr/>
        </p:nvSpPr>
        <p:spPr>
          <a:xfrm>
            <a:off x="2396672" y="9975545"/>
            <a:ext cx="4341671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defRPr sz="5500" b="1">
                <a:solidFill>
                  <a:srgbClr val="000000"/>
                </a:solidFill>
              </a:defRPr>
            </a:lvl1pPr>
          </a:lstStyle>
          <a:p>
            <a:r>
              <a:t>1 a Varios</a:t>
            </a:r>
          </a:p>
        </p:txBody>
      </p:sp>
      <p:grpSp>
        <p:nvGrpSpPr>
          <p:cNvPr id="261" name="Group"/>
          <p:cNvGrpSpPr/>
          <p:nvPr/>
        </p:nvGrpSpPr>
        <p:grpSpPr>
          <a:xfrm>
            <a:off x="9192303" y="2900767"/>
            <a:ext cx="6277394" cy="9789591"/>
            <a:chOff x="0" y="0"/>
            <a:chExt cx="6277392" cy="9789590"/>
          </a:xfrm>
        </p:grpSpPr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6277393" cy="8339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0" name="1 a Muchos"/>
            <p:cNvSpPr txBox="1"/>
            <p:nvPr/>
          </p:nvSpPr>
          <p:spPr>
            <a:xfrm>
              <a:off x="967861" y="8854811"/>
              <a:ext cx="4341671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rmAutofit/>
            </a:bodyPr>
            <a:lstStyle>
              <a:lvl1pPr defTabSz="825500">
                <a:defRPr sz="5500" b="1">
                  <a:solidFill>
                    <a:srgbClr val="000000"/>
                  </a:solidFill>
                </a:defRPr>
              </a:lvl1pPr>
            </a:lstStyle>
            <a:p>
              <a:r>
                <a:t>1 a Muchos</a:t>
              </a:r>
            </a:p>
          </p:txBody>
        </p:sp>
      </p:grpSp>
      <p:grpSp>
        <p:nvGrpSpPr>
          <p:cNvPr id="265" name="Group"/>
          <p:cNvGrpSpPr/>
          <p:nvPr/>
        </p:nvGrpSpPr>
        <p:grpSpPr>
          <a:xfrm>
            <a:off x="17923656" y="0"/>
            <a:ext cx="5831590" cy="13716001"/>
            <a:chOff x="0" y="0"/>
            <a:chExt cx="5831589" cy="13716000"/>
          </a:xfrm>
        </p:grpSpPr>
        <p:pic>
          <p:nvPicPr>
            <p:cNvPr id="262" name="Image" descr="Image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4662210" cy="137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63" name="Rectangle"/>
            <p:cNvSpPr/>
            <p:nvPr/>
          </p:nvSpPr>
          <p:spPr>
            <a:xfrm>
              <a:off x="373019" y="6558221"/>
              <a:ext cx="4662211" cy="93478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264" name="1 a Millones"/>
            <p:cNvSpPr txBox="1"/>
            <p:nvPr/>
          </p:nvSpPr>
          <p:spPr>
            <a:xfrm>
              <a:off x="713449" y="6390610"/>
              <a:ext cx="5118141" cy="9347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rmAutofit/>
            </a:bodyPr>
            <a:lstStyle>
              <a:lvl1pPr algn="l" defTabSz="825500">
                <a:defRPr sz="5500" b="1">
                  <a:solidFill>
                    <a:srgbClr val="000000"/>
                  </a:solidFill>
                </a:defRPr>
              </a:lvl1pPr>
            </a:lstStyle>
            <a:p>
              <a:r>
                <a:t>1 a Millones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577987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 animBg="1" advAuto="0"/>
      <p:bldP spid="265" grpId="0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Demo 0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smtClean="0"/>
              <a:t>Demo</a:t>
            </a:r>
            <a:endParaRPr dirty="0"/>
          </a:p>
        </p:txBody>
      </p:sp>
      <p:sp>
        <p:nvSpPr>
          <p:cNvPr id="270" name="Operaciones CRUD en MongoDB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Operaciones CRUD en MongoDB</a:t>
            </a:r>
          </a:p>
        </p:txBody>
      </p:sp>
      <p:pic>
        <p:nvPicPr>
          <p:cNvPr id="27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00949" y="4533900"/>
            <a:ext cx="2081918" cy="46482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660436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74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pic>
        <p:nvPicPr>
          <p:cNvPr id="27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10762" y="5751271"/>
            <a:ext cx="4880060" cy="36523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250543" y="5091893"/>
            <a:ext cx="11621692" cy="497112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49718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81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82" name="Single fiel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 field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db.collection.createIndex( &lt;key and index type specification&gt;, &lt;options&gt;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db.records.createIndex( { score: 1 } ) 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db.records.createIndex( { "location.state": 1 } ) </a:t>
            </a:r>
          </a:p>
        </p:txBody>
      </p:sp>
    </p:spTree>
    <p:extLst>
      <p:ext uri="{BB962C8B-B14F-4D97-AF65-F5344CB8AC3E}">
        <p14:creationId xmlns:p14="http://schemas.microsoft.com/office/powerpoint/2010/main" val="127302056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85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86" name="Compound fiel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Compound field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db.collection.createIndex( { &lt;field1&gt;: &lt;type&gt;, &lt;field2&gt;: &lt;type2&gt;, ... }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db.products.createIndex( { "item": 1, "stock": 1 } )</a:t>
            </a:r>
          </a:p>
        </p:txBody>
      </p:sp>
    </p:spTree>
    <p:extLst>
      <p:ext uri="{BB962C8B-B14F-4D97-AF65-F5344CB8AC3E}">
        <p14:creationId xmlns:p14="http://schemas.microsoft.com/office/powerpoint/2010/main" val="1276225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89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90" name="Geospatial fiel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Geospatial field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db.collection.createIndex( { &lt;location field&gt; : "2dsphere" }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db.places.createIndex( { loc : "2dsphere" } ) </a:t>
            </a:r>
          </a:p>
          <a:p>
            <a:pPr lvl="1">
              <a:defRPr sz="3900">
                <a:latin typeface="Consolas"/>
                <a:ea typeface="Consolas"/>
                <a:cs typeface="Consolas"/>
                <a:sym typeface="Consolas"/>
              </a:defRPr>
            </a:pPr>
            <a:r>
              <a:t>db.places.createIndex( { loc : "2dsphere" , category : -1, name: 1 } ) </a:t>
            </a:r>
          </a:p>
        </p:txBody>
      </p:sp>
    </p:spTree>
    <p:extLst>
      <p:ext uri="{BB962C8B-B14F-4D97-AF65-F5344CB8AC3E}">
        <p14:creationId xmlns:p14="http://schemas.microsoft.com/office/powerpoint/2010/main" val="4672937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Indi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Indices</a:t>
            </a:r>
          </a:p>
        </p:txBody>
      </p:sp>
      <p:sp>
        <p:nvSpPr>
          <p:cNvPr id="293" name="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En MongoDB</a:t>
            </a:r>
          </a:p>
        </p:txBody>
      </p:sp>
      <p:sp>
        <p:nvSpPr>
          <p:cNvPr id="294" name="db.apartments.find({…"/>
          <p:cNvSpPr txBox="1"/>
          <p:nvPr/>
        </p:nvSpPr>
        <p:spPr>
          <a:xfrm>
            <a:off x="1266688" y="3648037"/>
            <a:ext cx="14876960" cy="2660726"/>
          </a:xfrm>
          <a:prstGeom prst="rect">
            <a:avLst/>
          </a:prstGeom>
          <a:solidFill>
            <a:srgbClr val="333936"/>
          </a:solidFill>
          <a:ln w="50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0" tIns="508000" rIns="508000" bIns="508000" anchor="ctr">
            <a:spAutoFit/>
          </a:bodyPr>
          <a:lstStyle/>
          <a:p>
            <a:pPr algn="l" defTabSz="825500">
              <a:defRPr sz="38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db.apartments.find({</a:t>
            </a:r>
          </a:p>
          <a:p>
            <a:pPr algn="l" defTabSz="825500">
              <a:defRPr sz="38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location: { $geoWithin: { $geometry : </a:t>
            </a:r>
            <a:r>
              <a:rPr b="1"/>
              <a:t>london</a:t>
            </a:r>
            <a:r>
              <a:t> }  }</a:t>
            </a:r>
          </a:p>
          <a:p>
            <a:pPr algn="l" defTabSz="825500">
              <a:defRPr sz="3800">
                <a:solidFill>
                  <a:srgbClr val="D5D5D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})</a:t>
            </a:r>
          </a:p>
        </p:txBody>
      </p:sp>
      <p:pic>
        <p:nvPicPr>
          <p:cNvPr id="29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66450" y="6578600"/>
            <a:ext cx="11404821" cy="67584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14067381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Aggregation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Aggregation Framework</a:t>
            </a:r>
          </a:p>
        </p:txBody>
      </p:sp>
      <p:sp>
        <p:nvSpPr>
          <p:cNvPr id="298" name="Consultas complejas 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Consultas complejas en MongoDB</a:t>
            </a:r>
          </a:p>
        </p:txBody>
      </p:sp>
      <p:pic>
        <p:nvPicPr>
          <p:cNvPr id="299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62650" y="6263194"/>
            <a:ext cx="12675049" cy="7318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81889" y="3476143"/>
            <a:ext cx="14636571" cy="24916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359215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Aggregation Frame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Aggregation Framework</a:t>
            </a:r>
          </a:p>
        </p:txBody>
      </p:sp>
      <p:sp>
        <p:nvSpPr>
          <p:cNvPr id="305" name="Consultas complejas en MongoDB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Consultas complejas en MongoDB</a:t>
            </a:r>
          </a:p>
        </p:txBody>
      </p:sp>
      <p:pic>
        <p:nvPicPr>
          <p:cNvPr id="30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4406" y="5673099"/>
            <a:ext cx="20495188" cy="236980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953954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1514</Words>
  <Application>Microsoft Office PowerPoint</Application>
  <PresentationFormat>Personalizado</PresentationFormat>
  <Paragraphs>258</Paragraphs>
  <Slides>33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Consolas</vt:lpstr>
      <vt:lpstr>Helvetica Neue</vt:lpstr>
      <vt:lpstr>Helvetica Neue Medium</vt:lpstr>
      <vt:lpstr>30_BasicColor</vt:lpstr>
      <vt:lpstr>Bases de Datos 2</vt:lpstr>
      <vt:lpstr>BBDD Relacionales</vt:lpstr>
      <vt:lpstr>BBDD Relacionales</vt:lpstr>
      <vt:lpstr>BBDD Relacionales</vt:lpstr>
      <vt:lpstr>BBDD Relacionales</vt:lpstr>
      <vt:lpstr>BBDD Relacionales</vt:lpstr>
      <vt:lpstr>BBDDs NoSQL</vt:lpstr>
      <vt:lpstr>#NoSQL</vt:lpstr>
      <vt:lpstr>Agregaciones</vt:lpstr>
      <vt:lpstr>Agregaciones</vt:lpstr>
      <vt:lpstr>Agregaciones</vt:lpstr>
      <vt:lpstr>Agregaciones</vt:lpstr>
      <vt:lpstr>Agregaciones</vt:lpstr>
      <vt:lpstr>Familias NoSQL</vt:lpstr>
      <vt:lpstr>Familias NoSQL</vt:lpstr>
      <vt:lpstr>NoSQL</vt:lpstr>
      <vt:lpstr>Relaciones</vt:lpstr>
      <vt:lpstr>Relaciones</vt:lpstr>
      <vt:lpstr>BBDD Orientadas a Grafos</vt:lpstr>
      <vt:lpstr>MongoDB</vt:lpstr>
      <vt:lpstr>MongoDB</vt:lpstr>
      <vt:lpstr>Almacenamiento</vt:lpstr>
      <vt:lpstr>MongoDB</vt:lpstr>
      <vt:lpstr>MongoDB</vt:lpstr>
      <vt:lpstr>MongoDB</vt:lpstr>
      <vt:lpstr>Demo</vt:lpstr>
      <vt:lpstr>Indices</vt:lpstr>
      <vt:lpstr>Indices</vt:lpstr>
      <vt:lpstr>Indices</vt:lpstr>
      <vt:lpstr>Indices</vt:lpstr>
      <vt:lpstr>Indices</vt:lpstr>
      <vt:lpstr>Aggregation Framework</vt:lpstr>
      <vt:lpstr>Aggregation Framework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2</dc:title>
  <dc:creator>Fede</dc:creator>
  <cp:lastModifiedBy>Usuario</cp:lastModifiedBy>
  <cp:revision>11</cp:revision>
  <dcterms:modified xsi:type="dcterms:W3CDTF">2026-04-16T11:56:17Z</dcterms:modified>
</cp:coreProperties>
</file>